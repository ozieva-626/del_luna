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</p:sldIdLst>
  <p:sldSz cx="14630400" cy="8229600"/>
  <p:notesSz cx="8229600" cy="14630400"/>
  <p:embeddedFontLst>
    <p:embeddedFont>
      <p:font typeface="Gelasio" panose="020B0604020202020204" charset="0"/>
      <p:regular r:id="rId11"/>
    </p:embeddedFont>
    <p:embeddedFont>
      <p:font typeface="Gelasio Semi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6558"/>
    <a:srgbClr val="241615"/>
    <a:srgbClr val="88D888"/>
    <a:srgbClr val="F9F6F0"/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06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46000" b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-144463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5156" y="2123140"/>
            <a:ext cx="6614927" cy="396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24161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Веб-сайт кондитерской «Дель Луна»: современный онлайн-магазин сладостей</a:t>
            </a:r>
            <a:endParaRPr lang="en-US" sz="4450" dirty="0">
              <a:solidFill>
                <a:srgbClr val="241615"/>
              </a:solidFill>
            </a:endParaRPr>
          </a:p>
        </p:txBody>
      </p:sp>
      <p:sp>
        <p:nvSpPr>
          <p:cNvPr id="7" name="AutoShape 2" descr="blob:https://web.whatsapp.com/f6732dd9-70fe-49e6-93fb-68d532e2cd8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791" y="-15588"/>
            <a:ext cx="5704609" cy="824518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9845" y="1589810"/>
            <a:ext cx="8448897" cy="90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Цель проекта и его значение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7222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93790" y="345674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551688" y="31470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55761" y="3317200"/>
            <a:ext cx="272177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05419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Разработка для «Дель Луна»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51084" y="48989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Создан полноценный сайт для удобной покупки выпечки онлайн.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6962" y="3487222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216962" y="345674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974860" y="31470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8933" y="3317200"/>
            <a:ext cx="272177" cy="3401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4054197"/>
            <a:ext cx="33425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Удобство заказа онлайн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474136" y="484753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Обеспечение простоты выбора и оформления заказа.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640133" y="3487222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640133" y="345674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11398032" y="31470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02105" y="3317200"/>
            <a:ext cx="272177" cy="3401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4054197"/>
            <a:ext cx="3292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Демонстрация навыков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9897308" y="484753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Показатель базовых знаний фронтенд-разработки.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4317" y="1878763"/>
            <a:ext cx="9707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Технологический фундамент сайта</a:t>
            </a:r>
            <a:endParaRPr lang="en-US" sz="445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878384" y="3228536"/>
            <a:ext cx="12332520" cy="2026018"/>
            <a:chOff x="878384" y="3228536"/>
            <a:chExt cx="12332520" cy="2026018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91218" y="3266815"/>
              <a:ext cx="566976" cy="566976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878384" y="406105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4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HTML</a:t>
              </a:r>
              <a:endParaRPr lang="en-US" sz="24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78384" y="4528749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Семантическая </a:t>
              </a: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правильная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структура</a:t>
              </a:r>
              <a:endParaRPr lang="ru-RU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HTML</a:t>
              </a: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-кода обеспечила понимание структуры сайта работами поисковых систем, браузерами и т.д.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35893" y="3274657"/>
              <a:ext cx="566976" cy="566976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5235893" y="405241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4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CSS</a:t>
              </a:r>
              <a:endParaRPr lang="en-US" sz="24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5235893" y="4528749"/>
              <a:ext cx="415861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Реализует е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диный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стиль </a:t>
              </a: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оформления, который подчёркивает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фирменный образ компании</a:t>
              </a: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и создаёт ощущение целостности дизайна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792295" y="3228536"/>
              <a:ext cx="566976" cy="566976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9792295" y="405241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4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JavaScript</a:t>
              </a:r>
              <a:endParaRPr lang="en-US" sz="24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9792296" y="4528748"/>
              <a:ext cx="3418608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Добавляет и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нтерактивност</a:t>
              </a:r>
              <a:r>
                <a:rPr lang="ru-RU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и сайту, делая </a:t>
              </a:r>
              <a:r>
                <a:rPr lang="en-US" dirty="0" err="1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приятный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пользовательский опыт.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5873" y="658297"/>
            <a:ext cx="12098536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Основные функциональные возможности сайта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8899" y="1711047"/>
            <a:ext cx="462201" cy="46220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95933" y="1749564"/>
            <a:ext cx="3081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86483" y="1781651"/>
            <a:ext cx="256782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Каталог продукции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86483" y="2173248"/>
            <a:ext cx="1252501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Позволяет клиенту выбрать подходящий товар среди ассортимента изделий  кондитерского производства.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18899" y="2965252"/>
            <a:ext cx="462201" cy="46220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95933" y="3003768"/>
            <a:ext cx="3081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86483" y="3035856"/>
            <a:ext cx="2823448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Удобная форма заказа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86483" y="3480078"/>
            <a:ext cx="1252501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ru-RU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Предоставляет возможность ввести личный данные клиента, упрощая процесс оформления покупок.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8899" y="4219456"/>
            <a:ext cx="462201" cy="46220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95933" y="4257973"/>
            <a:ext cx="3081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86483" y="4290060"/>
            <a:ext cx="276260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Раздел «О компании»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86483" y="4734282"/>
            <a:ext cx="1252501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История предприятия, услуги и преимущества.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8899" y="5473660"/>
            <a:ext cx="462201" cy="46220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95933" y="5512177"/>
            <a:ext cx="3081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86483" y="5544264"/>
            <a:ext cx="311943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Контактная информация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86483" y="5988487"/>
            <a:ext cx="1252501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Адреса, телефоны, электронная почта.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8899" y="6727865"/>
            <a:ext cx="462201" cy="46220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95933" y="6766381"/>
            <a:ext cx="3081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86483" y="6798469"/>
            <a:ext cx="2646402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Отзывы покупателей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86483" y="7242691"/>
            <a:ext cx="1252501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Повышение доверия новых клиентов.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-475296" y="1186806"/>
            <a:ext cx="11323406" cy="860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dirty="0" smtClean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База данных веб-каталога</a:t>
            </a:r>
            <a:endParaRPr lang="en-US" sz="44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812510" y="2421255"/>
            <a:ext cx="461946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400" dirty="0" smtClean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Основные таблицы и их назначение:</a:t>
            </a:r>
            <a:endParaRPr lang="en-US" sz="24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978091"/>
              </p:ext>
            </p:extLst>
          </p:nvPr>
        </p:nvGraphicFramePr>
        <p:xfrm>
          <a:off x="1812510" y="3159991"/>
          <a:ext cx="10324072" cy="366683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28517"/>
                <a:gridCol w="5995555"/>
              </a:tblGrid>
              <a:tr h="618503">
                <a:tc>
                  <a:txBody>
                    <a:bodyPr/>
                    <a:lstStyle/>
                    <a:p>
                      <a:r>
                        <a:rPr lang="ru-RU" sz="2400" b="1" dirty="0" smtClean="0"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Таблица</a:t>
                      </a:r>
                      <a:endParaRPr lang="en-US" sz="2400" b="0" dirty="0">
                        <a:effectLst/>
                        <a:latin typeface="Gelasio Semi Bold" panose="020B0604020202020204" charset="0"/>
                        <a:cs typeface="Gelasio Semi Bold" panose="020B060402020202020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smtClean="0"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То</a:t>
                      </a:r>
                      <a:r>
                        <a:rPr lang="ru-RU" sz="2400" b="1" baseline="0" dirty="0" smtClean="0"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, что она хранит</a:t>
                      </a:r>
                      <a:endParaRPr lang="en-US" sz="2400" b="0" dirty="0" smtClean="0">
                        <a:effectLst/>
                        <a:latin typeface="Gelasio Semi Bold" panose="020B0604020202020204" charset="0"/>
                        <a:cs typeface="Gelasio Semi Bold" panose="020B0604020202020204" charset="0"/>
                      </a:endParaRPr>
                    </a:p>
                  </a:txBody>
                  <a:tcPr marL="121920" marR="121920" marT="76200" marB="76200" anchor="ctr"/>
                </a:tc>
              </a:tr>
              <a:tr h="101611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746558"/>
                          </a:solidFill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categories</a:t>
                      </a:r>
                      <a:endParaRPr lang="en-US" sz="2000" b="0" dirty="0">
                        <a:solidFill>
                          <a:srgbClr val="746558"/>
                        </a:solidFill>
                        <a:effectLst/>
                        <a:latin typeface="Gelasio Semi Bold" panose="020B0604020202020204" charset="0"/>
                        <a:cs typeface="Gelasio Semi Bold" panose="020B060402020202020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746558"/>
                          </a:solidFill>
                          <a:effectLst/>
                          <a:cs typeface="Gelasio Semi Bold" panose="020B0604020202020204" charset="0"/>
                        </a:rPr>
                        <a:t>Категории товаров (торты, пироги, </a:t>
                      </a:r>
                      <a:r>
                        <a:rPr lang="ru-RU" sz="2000" dirty="0" err="1">
                          <a:solidFill>
                            <a:srgbClr val="746558"/>
                          </a:solidFill>
                          <a:effectLst/>
                          <a:cs typeface="Gelasio Semi Bold" panose="020B0604020202020204" charset="0"/>
                        </a:rPr>
                        <a:t>круассаны</a:t>
                      </a:r>
                      <a:r>
                        <a:rPr lang="ru-RU" sz="2000" dirty="0">
                          <a:solidFill>
                            <a:srgbClr val="746558"/>
                          </a:solidFill>
                          <a:effectLst/>
                          <a:cs typeface="Gelasio Semi Bold" panose="020B0604020202020204" charset="0"/>
                        </a:rPr>
                        <a:t> и т.д.)</a:t>
                      </a:r>
                      <a:endParaRPr lang="ru-RU" sz="2000" b="0" dirty="0">
                        <a:solidFill>
                          <a:srgbClr val="746558"/>
                        </a:solidFill>
                        <a:effectLst/>
                        <a:latin typeface="quote-cjk-patch"/>
                        <a:cs typeface="Gelasio Semi Bold" panose="020B0604020202020204" charset="0"/>
                      </a:endParaRPr>
                    </a:p>
                  </a:txBody>
                  <a:tcPr marL="121920" marT="76200" marB="76200" anchor="ctr"/>
                </a:tc>
              </a:tr>
              <a:tr h="101611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746558"/>
                          </a:solidFill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products</a:t>
                      </a:r>
                      <a:endParaRPr lang="en-US" sz="2000" b="0" dirty="0">
                        <a:solidFill>
                          <a:srgbClr val="746558"/>
                        </a:solidFill>
                        <a:effectLst/>
                        <a:latin typeface="Gelasio Semi Bold" panose="020B0604020202020204" charset="0"/>
                        <a:cs typeface="Gelasio Semi Bold" panose="020B060402020202020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746558"/>
                          </a:solidFill>
                          <a:effectLst/>
                          <a:cs typeface="Gelasio Semi Bold" panose="020B0604020202020204" charset="0"/>
                        </a:rPr>
                        <a:t>Товары: название, описание, цена, путь к изображению, ссылка на категорию</a:t>
                      </a:r>
                      <a:endParaRPr lang="ru-RU" sz="2000" b="0" dirty="0">
                        <a:solidFill>
                          <a:srgbClr val="746558"/>
                        </a:solidFill>
                        <a:effectLst/>
                        <a:latin typeface="quote-cjk-patch"/>
                        <a:cs typeface="Gelasio Semi Bold" panose="020B0604020202020204" charset="0"/>
                      </a:endParaRPr>
                    </a:p>
                  </a:txBody>
                  <a:tcPr marL="121920" marT="76200" marB="76200" anchor="ctr"/>
                </a:tc>
              </a:tr>
              <a:tr h="101611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746558"/>
                          </a:solidFill>
                          <a:effectLst/>
                          <a:latin typeface="Gelasio Semi Bold" panose="020B0604020202020204" charset="0"/>
                          <a:cs typeface="Gelasio Semi Bold" panose="020B0604020202020204" charset="0"/>
                        </a:rPr>
                        <a:t>orders</a:t>
                      </a:r>
                      <a:endParaRPr lang="en-US" sz="2000" b="0" dirty="0">
                        <a:solidFill>
                          <a:srgbClr val="746558"/>
                        </a:solidFill>
                        <a:effectLst/>
                        <a:latin typeface="Gelasio Semi Bold" panose="020B0604020202020204" charset="0"/>
                        <a:cs typeface="Gelasio Semi Bold" panose="020B060402020202020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rgbClr val="746558"/>
                          </a:solidFill>
                          <a:effectLst/>
                          <a:cs typeface="Gelasio Semi Bold" panose="020B0604020202020204" charset="0"/>
                        </a:rPr>
                        <a:t>Заказы покупателей: имя, телефон, адрес, способ оплаты, дата</a:t>
                      </a:r>
                      <a:endParaRPr lang="ru-RU" sz="2000" b="0" dirty="0">
                        <a:solidFill>
                          <a:srgbClr val="746558"/>
                        </a:solidFill>
                        <a:effectLst/>
                        <a:latin typeface="quote-cjk-patch"/>
                        <a:cs typeface="Gelasio Semi Bold" panose="020B0604020202020204" charset="0"/>
                      </a:endParaRP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90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9985" y="1342516"/>
            <a:ext cx="11323406" cy="860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Каталог продукции: выбор без сложностей</a:t>
            </a:r>
            <a:endParaRPr lang="en-US" sz="44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39353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Широкий ассортимент кондитерских изделий на одной странице.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17657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Фильтры помогают быстро найти нужный товар по категориям.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89" y="4741306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Сортировка облегчает сравнение цен и популярности.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64956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Визуальное оформление стимулирует аппетит и желание купить.</a:t>
            </a:r>
            <a:endParaRPr lang="en-US" sz="175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9393382" y="2184168"/>
            <a:ext cx="4740149" cy="4946073"/>
            <a:chOff x="8944679" y="2317172"/>
            <a:chExt cx="3910770" cy="4227116"/>
          </a:xfrm>
        </p:grpSpPr>
        <p:sp>
          <p:nvSpPr>
            <p:cNvPr id="11" name="Скругленный прямоугольник 10"/>
            <p:cNvSpPr/>
            <p:nvPr/>
          </p:nvSpPr>
          <p:spPr>
            <a:xfrm>
              <a:off x="8944679" y="2317172"/>
              <a:ext cx="3910770" cy="4227115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4679" y="2317173"/>
              <a:ext cx="3910769" cy="4227115"/>
            </a:xfrm>
            <a:prstGeom prst="flowChartAlternateProcess">
              <a:avLst/>
            </a:prstGeom>
          </p:spPr>
        </p:pic>
      </p:grpSp>
      <p:sp>
        <p:nvSpPr>
          <p:cNvPr id="15" name="Прямоугольник 14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0262" y="1137880"/>
            <a:ext cx="123497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Форма заказа: простой и надежный процесс</a:t>
            </a:r>
            <a:endParaRPr lang="en-US" sz="445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3790" y="2300288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Выбор товара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20604" y="3924776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Добавления товара в корзину и переход во вкладу "Оформление заказа".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00288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Ввод данных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7542014" y="392477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Личные данные и детали доставки в одном окне.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77395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60114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Подтверждение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1020604" y="650188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Автоматическое уведомление о заказе.</a:t>
            </a:r>
            <a:endParaRPr lang="en-US" sz="2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15200" y="4877395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6011466"/>
            <a:ext cx="2953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Быстрое завершение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7542014" y="650188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Минимальное количество шагов.</a:t>
            </a:r>
            <a:endParaRPr lang="en-US" sz="20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09" y="123581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6">
                    <a:lumMod val="75000"/>
                  </a:schemeClr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Дизайн сайта: современный и привлекательный</a:t>
            </a:r>
            <a:endParaRPr lang="en-US" sz="44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599522" y="2678911"/>
            <a:ext cx="5077388" cy="144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Семантический HTML облегчает навигацию и восприятие.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99520" y="3803841"/>
            <a:ext cx="4661753" cy="96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Единый стиль CSS подчёркивает фирменный </a:t>
            </a:r>
            <a:endParaRPr lang="ru-RU" sz="20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ru-RU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</a:t>
            </a: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стиль.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99523" y="5008569"/>
            <a:ext cx="5077388" cy="118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Продуманная структура страниц обеспечивает комфортное взаимодействие.</a:t>
            </a:r>
            <a:endParaRPr lang="en-US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34" y="2462640"/>
            <a:ext cx="6311813" cy="426027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8" name="Прямоугольник 7"/>
          <p:cNvSpPr/>
          <p:nvPr/>
        </p:nvSpPr>
        <p:spPr>
          <a:xfrm>
            <a:off x="1105934" y="2462640"/>
            <a:ext cx="6311813" cy="426027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843164" y="7647709"/>
            <a:ext cx="1787236" cy="581891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336</Words>
  <Application>Microsoft Office PowerPoint</Application>
  <PresentationFormat>Произвольный</PresentationFormat>
  <Paragraphs>68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Gelasio</vt:lpstr>
      <vt:lpstr>Arial</vt:lpstr>
      <vt:lpstr>Gelasio Semi Bold</vt:lpstr>
      <vt:lpstr>quote-cjk-patch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007</dc:creator>
  <cp:lastModifiedBy>Учетная запись Майкрософт</cp:lastModifiedBy>
  <cp:revision>19</cp:revision>
  <dcterms:created xsi:type="dcterms:W3CDTF">2025-07-25T18:12:38Z</dcterms:created>
  <dcterms:modified xsi:type="dcterms:W3CDTF">2026-06-10T17:30:12Z</dcterms:modified>
</cp:coreProperties>
</file>